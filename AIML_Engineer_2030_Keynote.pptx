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158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Fresher</c:v>
                  </c:pt>
                  <c:pt idx="1">
                    <c:v>1–2 YOE</c:v>
                  </c:pt>
                  <c:pt idx="2">
                    <c:v>3–5 YOE</c:v>
                  </c:pt>
                  <c:pt idx="3">
                    <c:v>5–8 YOE</c:v>
                  </c:pt>
                  <c:pt idx="4">
                    <c:v>8+ YOE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12</c:v>
                </c:pt>
                <c:pt idx="2">
                  <c:v>20</c:v>
                </c:pt>
                <c:pt idx="3">
                  <c:v>32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Strong</c:v>
                </c:pt>
              </c:strCache>
            </c:strRef>
          </c:tx>
          <c:spPr>
            <a:solidFill>
              <a:srgbClr val="5C7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158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Fresher</c:v>
                  </c:pt>
                  <c:pt idx="1">
                    <c:v>1–2 YOE</c:v>
                  </c:pt>
                  <c:pt idx="2">
                    <c:v>3–5 YOE</c:v>
                  </c:pt>
                  <c:pt idx="3">
                    <c:v>5–8 YOE</c:v>
                  </c:pt>
                  <c:pt idx="4">
                    <c:v>8+ YOE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20</c:v>
                </c:pt>
                <c:pt idx="2">
                  <c:v>35</c:v>
                </c:pt>
                <c:pt idx="3">
                  <c:v>50</c:v>
                </c:pt>
                <c:pt idx="4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Exceptional</c:v>
                </c:pt>
              </c:strCache>
            </c:strRef>
          </c:tx>
          <c:spPr>
            <a:solidFill>
              <a:srgbClr val="C21F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158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Fresher</c:v>
                  </c:pt>
                  <c:pt idx="1">
                    <c:v>1–2 YOE</c:v>
                  </c:pt>
                  <c:pt idx="2">
                    <c:v>3–5 YOE</c:v>
                  </c:pt>
                  <c:pt idx="3">
                    <c:v>5–8 YOE</c:v>
                  </c:pt>
                  <c:pt idx="4">
                    <c:v>8+ YOE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32</c:v>
                </c:pt>
                <c:pt idx="2">
                  <c:v>60</c:v>
                </c:pt>
                <c:pt idx="3">
                  <c:v>90</c:v>
                </c:pt>
                <c:pt idx="4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158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3A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fresher range, midpoint (₹ LPA)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&quot;₹&quot;0&quot;L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1F2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1F2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1F2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Cybersecurity</c:v>
                  </c:pt>
                  <c:pt idx="1">
                    <c:v>Data Engineering</c:v>
                  </c:pt>
                  <c:pt idx="2">
                    <c:v>Cloud / DevOps</c:v>
                  </c:pt>
                  <c:pt idx="3">
                    <c:v>Software Engineering</c:v>
                  </c:pt>
                  <c:pt idx="4">
                    <c:v>Data Science</c:v>
                  </c:pt>
                  <c:pt idx="5">
                    <c:v>ML Engineering</c:v>
                  </c:pt>
                  <c:pt idx="6">
                    <c:v>AI Engineering</c:v>
                  </c:pt>
                  <c:pt idx="7">
                    <c:v>GenAI / LLM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6.5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11.5</c:v>
                </c:pt>
              </c:numCache>
            </c:numRef>
          </c:val>
        </c:ser>
        <c:dLbls>
          <c:numFmt formatCode="&quot;₹&quot;0&quot;L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097280"/>
            <a:ext cx="4206240" cy="420624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89320"/>
            <a:ext cx="12188952" cy="18288"/>
          </a:xfrm>
          <a:prstGeom prst="rect">
            <a:avLst/>
          </a:prstGeom>
          <a:solidFill>
            <a:srgbClr val="2A467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UNIVERSITY  •  B.TECH FIRST YEAR KEYNOTE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AIML ENGINEER 2030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Careers &amp; Industry Expectations in the Age of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and Agentic AI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experience for 400 future engineers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QUESTION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four years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graduate.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biggest skill you learn today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automated before you graduate?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01 — SHOW OF HANDS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quick questions before we 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33172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3200400"/>
            <a:ext cx="4251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of you want to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 AI?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51206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2331720"/>
            <a:ext cx="640080" cy="64008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3200400"/>
            <a:ext cx="4251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of you think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“Python + ChatGPT” is enough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get there?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0" y="51206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hand up if you still agree by the end.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got to Agentic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" y="2948940"/>
            <a:ext cx="10040112" cy="0"/>
          </a:xfrm>
          <a:prstGeom prst="line">
            <a:avLst/>
          </a:prstGeom>
          <a:noFill/>
          <a:ln w="38100">
            <a:solidFill>
              <a:srgbClr val="DCE2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" y="2514600"/>
            <a:ext cx="868680" cy="8686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569339" y="2514600"/>
            <a:ext cx="868680" cy="868680"/>
          </a:xfrm>
          <a:prstGeom prst="ellipse">
            <a:avLst/>
          </a:prstGeom>
          <a:solidFill>
            <a:srgbClr val="35547E"/>
          </a:solidFill>
          <a:ln/>
        </p:spPr>
      </p:sp>
      <p:sp>
        <p:nvSpPr>
          <p:cNvPr id="9" name="Text 7"/>
          <p:cNvSpPr/>
          <p:nvPr/>
        </p:nvSpPr>
        <p:spPr>
          <a:xfrm>
            <a:off x="1569339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0759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32938" y="2514600"/>
            <a:ext cx="868680" cy="8686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932938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64358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6537" y="2514600"/>
            <a:ext cx="868680" cy="868680"/>
          </a:xfrm>
          <a:prstGeom prst="ellipse">
            <a:avLst/>
          </a:prstGeom>
          <a:solidFill>
            <a:srgbClr val="35547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6537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27957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0136" y="2514600"/>
            <a:ext cx="868680" cy="8686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0136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91556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23735" y="2514600"/>
            <a:ext cx="868680" cy="868680"/>
          </a:xfrm>
          <a:prstGeom prst="ellipse">
            <a:avLst/>
          </a:prstGeom>
          <a:solidFill>
            <a:srgbClr val="35547E"/>
          </a:solidFill>
          <a:ln/>
        </p:spPr>
      </p:sp>
      <p:sp>
        <p:nvSpPr>
          <p:cNvPr id="21" name="Text 19"/>
          <p:cNvSpPr/>
          <p:nvPr/>
        </p:nvSpPr>
        <p:spPr>
          <a:xfrm>
            <a:off x="7023735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55155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87334" y="2514600"/>
            <a:ext cx="868680" cy="8686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387334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18754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50933" y="2514600"/>
            <a:ext cx="868680" cy="868680"/>
          </a:xfrm>
          <a:prstGeom prst="ellipse">
            <a:avLst/>
          </a:prstGeom>
          <a:solidFill>
            <a:srgbClr val="35547E"/>
          </a:solidFill>
          <a:ln/>
        </p:spPr>
      </p:sp>
      <p:sp>
        <p:nvSpPr>
          <p:cNvPr id="27" name="Text 25"/>
          <p:cNvSpPr/>
          <p:nvPr/>
        </p:nvSpPr>
        <p:spPr>
          <a:xfrm>
            <a:off x="9750933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82353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1114532" y="2514600"/>
            <a:ext cx="868680" cy="86868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30" name="Text 28"/>
          <p:cNvSpPr/>
          <p:nvPr/>
        </p:nvSpPr>
        <p:spPr>
          <a:xfrm>
            <a:off x="11114532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045952" y="3520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AI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4572000"/>
            <a:ext cx="10543032" cy="1600200"/>
          </a:xfrm>
          <a:prstGeom prst="roundRect">
            <a:avLst>
              <a:gd name="adj" fmla="val 5143"/>
            </a:avLst>
          </a:prstGeom>
          <a:solidFill>
            <a:srgbClr val="E7EAF1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188720" y="4572000"/>
            <a:ext cx="9811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didn’t replace the one before it — it sits on top of it. An AI Engineer in 2030 still needs the foundations at the bottom of this ladder, not just the newest layer on top.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943600" cy="59436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02 — PREDICT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think an AI Engineer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earns as a fresher in India, in 2026?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2–4 LPA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44952" y="37490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9544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36392" y="4069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5–9 LPA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66944" y="37490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31536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58384" y="4069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10–14 LPA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88936" y="37490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53528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0376" y="4069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15–25 LPA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710928" y="37490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02368" y="4069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25+ LPA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your answer — the real numbers are next.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AI/ML engineers actually earn in India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34440"/>
          <a:ext cx="10881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bands (LPA) synthesised from 2026 industry salary reports (Instahyre, Glassdoor, NASSCOM-linked sources). “Typical” = IT-services / generalist; “Strong” = product company / GitHub portfolio; “Exceptional” = FAANG-India, GenAI/LLM specialists, or founding teams. Never treat the exceptional band as the baseline.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vs other tech careers — fresher pay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188720"/>
          <a:ext cx="10881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ranges (₹ LPA, fresher): Cybersecurity 4–9   •   Data Engineering 4–8   •   Cloud / DevOps 4–8   •   Software Engineering 4–10   •   Data Science 4–8   •   ML Engineering 5–9   •   AI Engineering 5–9   •   GenAI / LLM 8–15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77240" y="5989320"/>
            <a:ext cx="10607040" cy="685800"/>
          </a:xfrm>
          <a:prstGeom prst="roundRect">
            <a:avLst>
              <a:gd name="adj" fmla="val 12000"/>
            </a:avLst>
          </a:prstGeom>
          <a:solidFill>
            <a:srgbClr val="E7EAF1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59893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pays well — but it does not automatically pay more than every field. Skills, company, location and specialisation decide the outcome, not the job title.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03 — THINK ABOUT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degree. Same college. ₹6–8 LPA vs ₹15–25+ LPA. Why?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21992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79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0" y="20574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90672" y="2221992"/>
            <a:ext cx="384048" cy="384048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0" name="Text 8"/>
          <p:cNvSpPr/>
          <p:nvPr/>
        </p:nvSpPr>
        <p:spPr>
          <a:xfrm>
            <a:off x="309067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679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Strength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20574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39512" y="2221992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23951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679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Fundamentals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23760" y="20574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88352" y="2221992"/>
            <a:ext cx="384048" cy="384048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8835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2679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72600" y="20574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37192" y="2221992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953719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2679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Activity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3685032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1832" y="3849624"/>
            <a:ext cx="384048" cy="384048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30682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926080" y="3685032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90672" y="3849624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09067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430682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74920" y="3685032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39512" y="3849624"/>
            <a:ext cx="384048" cy="384048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34" name="Text 32"/>
          <p:cNvSpPr/>
          <p:nvPr/>
        </p:nvSpPr>
        <p:spPr>
          <a:xfrm>
            <a:off x="523951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430682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223760" y="3685032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88352" y="3849624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60920" y="430682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Skills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372600" y="3685032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537192" y="3849624"/>
            <a:ext cx="384048" cy="384048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42" name="Text 40"/>
          <p:cNvSpPr/>
          <p:nvPr/>
        </p:nvSpPr>
        <p:spPr>
          <a:xfrm>
            <a:off x="953719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09760" y="430682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Performance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77240" y="54041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ten factors — not the degree itself — explain most of the spread you just saw.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04 — HIRE / DON’T HIRE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would YOU hire?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45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CGPA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certificates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5387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projects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41970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GitHub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26280" y="132588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645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 CGPA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Python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35387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meaningful projects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41970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GitHub + hackathon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75320" y="132588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1645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2011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 CGPA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95360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GenAI skills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95360" y="35387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+ deployed projects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95360" y="41970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560320"/>
            <a:ext cx="6858000" cy="68580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332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Engineer is someone who can take a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problem and engineer an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system that is useful, reliable,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scalable, measurable and safe.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709928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1208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1488" y="5212080"/>
            <a:ext cx="1929384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521208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19472" y="5212080"/>
            <a:ext cx="1929384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521208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77456" y="521208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77456" y="5212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54896" y="5212080"/>
            <a:ext cx="1490472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54896" y="521208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2030 AI Engineer actually needs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1627632"/>
            <a:ext cx="365760" cy="36576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1488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5786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math, statistics, algorithms, data structures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83864" y="1371600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9896" y="1627632"/>
            <a:ext cx="365760" cy="36576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1" name="Text 9"/>
          <p:cNvSpPr/>
          <p:nvPr/>
        </p:nvSpPr>
        <p:spPr>
          <a:xfrm>
            <a:off x="3739896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9896" y="21488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9896" y="25786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trees, boosting, CV &amp; NLP basics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0488" y="1371600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627632"/>
            <a:ext cx="365760" cy="36576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5786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LLMs, embeddings, RAG, fine-tuning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97112" y="1371600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53144" y="1627632"/>
            <a:ext cx="365760" cy="36576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21" name="Text 19"/>
          <p:cNvSpPr/>
          <p:nvPr/>
        </p:nvSpPr>
        <p:spPr>
          <a:xfrm>
            <a:off x="9153144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53144" y="21488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3144" y="25786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planning, memory, MCP, multi-agent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4015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3272" y="3657600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" y="417880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33272" y="4608576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databases, Git, Docker, cloud, CI/CD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83864" y="34015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39896" y="3657600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373989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39896" y="417880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739896" y="4608576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observability, guardrails, cost, latency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0488" y="34015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3657600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417880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Skills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46520" y="4608576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product thinking, leadership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EVERYONE 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AI can write code, why should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learn programming?”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47288" y="251460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84448" y="2514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architecture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17336" y="251460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54496" y="2514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output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87384" y="251460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24544" y="2514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47288" y="329184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84448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17336" y="329184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54496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87384" y="3291840"/>
            <a:ext cx="248716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1B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24544" y="32918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optimise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343400"/>
            <a:ext cx="10607040" cy="777240"/>
          </a:xfrm>
          <a:prstGeom prst="roundRect">
            <a:avLst>
              <a:gd name="adj" fmla="val 1058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343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“Google Maps didn’t eliminate the need to know how to drive.”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77240" y="5257800"/>
            <a:ext cx="10607040" cy="777240"/>
          </a:xfrm>
          <a:prstGeom prst="roundRect">
            <a:avLst>
              <a:gd name="adj" fmla="val 10588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can generate 1,000 lines of code. Your value is knowing whether those 1,000 lines are correct.”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CAREER-DEFINING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 vs AI Engineer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074920" cy="1554480"/>
          </a:xfrm>
          <a:prstGeom prst="roundRect">
            <a:avLst>
              <a:gd name="adj" fmla="val 5294"/>
            </a:avLst>
          </a:prstGeom>
          <a:solidFill>
            <a:srgbClr val="E7EAF1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 →  Model  →  Output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Model selection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Prompt / RAG / Fine-tuning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Tools &amp; Agents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Evaluation &amp; Security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Deployment &amp; Monitoring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5166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Business impact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80060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8006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“Prompting is a skill.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the whole system is the career.”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ABSOLUTE-BEST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four-year 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33272" y="24414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3272" y="370332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a Programmer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3272" y="5212080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DSA, Git, SQL, math foundations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39312" y="21488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95344" y="24414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95344" y="370332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an ML Builder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895344" y="5212080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NumPy/Pandas, classical ML, model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01384" y="21488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57416" y="24414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57416" y="370332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an AI Builder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757416" y="5212080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LLMs, RAG, agentic systems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63456" y="21488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19488" y="244144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19488" y="370332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an AI Engineer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19488" y="5212080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MLOps/LLMOps, deployment, 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Programmer first, everything else second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2487168" cy="32918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2487168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395728"/>
            <a:ext cx="20848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syntax → OOP   •   Loops, functions, recursion   •   Lists / dicts / sets   •   File handling, exceptions   •   Debugging, virtual envs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93008" y="1737360"/>
            <a:ext cx="2487168" cy="32918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737360"/>
            <a:ext cx="2487168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17373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Fundamentals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94176" y="2395728"/>
            <a:ext cx="20848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  •   Linux basics, CLI   •   HTTP, JSON, REST APIs   •   VS Code workflow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08776" y="1737360"/>
            <a:ext cx="2487168" cy="32918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737360"/>
            <a:ext cx="2487168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17373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+ 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2395728"/>
            <a:ext cx="20848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hashing   •   Trees, graphs, stacks/queues   •   Sorting &amp; searching   •   SELECT / JOIN / GROUP BY / CTEs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924544" y="1737360"/>
            <a:ext cx="2487168" cy="329184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737360"/>
            <a:ext cx="2487168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9107424" y="17373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25712" y="2395728"/>
            <a:ext cx="20848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&amp; functions   •   Probability &amp; statistics   •   Vectors, matrices   •   Basic calculus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target: 8+ small projects that prove you can actually build, not just follow tutorials.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—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working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3392424" cy="502920"/>
          </a:xfrm>
          <a:prstGeom prst="rect">
            <a:avLst/>
          </a:prstGeom>
          <a:solidFill>
            <a:srgbClr val="3554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   •   EDA &amp; visualization   •   Data cleaning   •   Feature engineering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98264" y="1737360"/>
            <a:ext cx="3392424" cy="502920"/>
          </a:xfrm>
          <a:prstGeom prst="rect">
            <a:avLst/>
          </a:prstGeom>
          <a:solidFill>
            <a:srgbClr val="35547E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   •   Decision trees, random forests   •   Gradient boosting, XGBoost   •   SVM, KNN, Naive Bayes   •   Clustering, PCA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19288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9288" y="1737360"/>
            <a:ext cx="3392424" cy="502920"/>
          </a:xfrm>
          <a:prstGeom prst="rect">
            <a:avLst/>
          </a:prstGeom>
          <a:solidFill>
            <a:srgbClr val="3554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02168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0456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splits   •   Cross-validation   •   Bias vs variance   •   Over/underfitting   •   Regularization &amp; metrics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target: 10 ML projects with real datasets — not just Kaggle Titanic.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— DEEP LEARNING + GENERATIVE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current AI wave actually lives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3392424" cy="502920"/>
          </a:xfrm>
          <a:prstGeom prst="rect">
            <a:avLst/>
          </a:prstGeom>
          <a:solidFill>
            <a:srgbClr val="C21F2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&amp; backprop   •   Optimizers, CNN, RNN/LSTM   •   Attention &amp; Transformers   •   PyTorch, Hugging Face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98264" y="1737360"/>
            <a:ext cx="3392424" cy="502920"/>
          </a:xfrm>
          <a:prstGeom prst="rect">
            <a:avLst/>
          </a:prstGeom>
          <a:solidFill>
            <a:srgbClr val="C21F2F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&amp; prompt engineering   •   Embeddings, vector DBs   •   RAG, reranking, hybrid search   •   Fine-tuning, LoRA/PEFT   •   Multimodal models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19288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9288" y="1737360"/>
            <a:ext cx="3392424" cy="502920"/>
          </a:xfrm>
          <a:prstGeom prst="rect">
            <a:avLst/>
          </a:prstGeom>
          <a:solidFill>
            <a:srgbClr val="C21F2F"/>
          </a:solidFill>
          <a:ln/>
        </p:spPr>
      </p:sp>
      <p:sp>
        <p:nvSpPr>
          <p:cNvPr id="14" name="Text 12"/>
          <p:cNvSpPr/>
          <p:nvPr/>
        </p:nvSpPr>
        <p:spPr>
          <a:xfrm>
            <a:off x="8202168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0456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&amp; planning   •   Memory &amp; workflows   •   Multi-agent systems   •   MCP, agent evaluation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target: 10 GenAI / agent projects — this is your specialization year.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 — PRODUCTION AI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it, secure it, keep it alive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3392424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+ Cloud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patterns   •   APIs, microservices, testing   •   AWS/Azure/GCP fundamentals   •   Docker, Kubernetes basics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98264" y="1737360"/>
            <a:ext cx="3392424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/ LLMOps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&amp; registry   •   Monitoring &amp; drift   •   Prompt versioning &amp; tracing   •   Cost &amp; latency, model routing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19288" y="1737360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9288" y="1737360"/>
            <a:ext cx="3392424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8202168" y="17373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0456" y="2395728"/>
            <a:ext cx="29900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&amp; prompt injection   •   Data leakage &amp; privacy   •   Security &amp; bias   •   Responsible AI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 target: 5 production-grade projects — deployed, monitored, and demo-able in an interview.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TOPIC IS EQUAL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everything you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81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434F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527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 — INTERVIEWS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DSA, ML fundamentals, core CS — asked in almost every interview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7157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 — HANDS-ON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1546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APIs, debugging — you use it every single day on the job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39593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6A62C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9044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KNOW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4343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frameworks, alternate libraries — helpful, not essential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148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6FB6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5093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SPECIALIZATION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5532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Fine-tuning, distributed training — depth for a chosen niche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NOT GENERIC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learning sequence by year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789920" cy="60350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94760" y="14173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141732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0" y="141732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2082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20208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programming basics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202082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0" y="202082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hands-on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624328"/>
            <a:ext cx="10789920" cy="603504"/>
          </a:xfrm>
          <a:prstGeom prst="rect">
            <a:avLst/>
          </a:prstGeom>
          <a:solidFill>
            <a:srgbClr val="E7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243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CampusX / Codebasics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94760" y="26243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+ core CS in Hindi/English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55280" y="2624328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Y1–Y2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0" y="26243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hands-on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2278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/ KrishAI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94760" y="32278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→ deep learning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0" y="3227832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Y2–Y3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0" y="322783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project-oriented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3831336"/>
            <a:ext cx="10789920" cy="603504"/>
          </a:xfrm>
          <a:prstGeom prst="rect">
            <a:avLst/>
          </a:prstGeom>
          <a:solidFill>
            <a:srgbClr val="E7E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3133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947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theory reference, interview prep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3831336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Y2–Y4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26880" y="383133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theory + interview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44348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Vizura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94760" y="44348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agentic AI explainers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0" y="443484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26880" y="443484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theory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5038344"/>
            <a:ext cx="10789920" cy="603504"/>
          </a:xfrm>
          <a:prstGeom prst="rect">
            <a:avLst/>
          </a:prstGeom>
          <a:solidFill>
            <a:srgbClr val="E7EAF1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0383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Skilljar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94760" y="50383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101, Claude Code, AI Fluency, MCP, Claude Platform 101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55280" y="503834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Y3–Y4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26880" y="503834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• official • hands-on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" y="5779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pick one primary resource per subject and finish it, before adding a second.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OPEN-SOURCE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Study, research &amp; tutoring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78408" y="21488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your syllabus/notes — ask it to summarise, quiz you, generate study guides.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61688" y="13716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504748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/ Gemini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2856" y="21488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for explanations, active recall quizzing, and the Feynman technique.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46136" y="13716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8631936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47304" y="21488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for research questions — faster than searching alone.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3904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46304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/ Google Scholar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78408" y="448056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to papers for projects and literature review.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61688" y="3703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904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5047488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62856" y="448056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reference manager for any research project.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46136" y="3703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47304" y="3904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8147304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8631936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47304" y="448056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spaced-repetition flashcards — pairs perfectly with AI-generated cards.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OPEN-SOURCE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&amp; building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GitHub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78408" y="21488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driver. Free, industry-standard, and expected on every resume.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61688" y="13716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504748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2856" y="21488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→ real project work. Don’t use it for → skipping the fundamentals.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46136" y="137160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8631936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Kaggle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47304" y="21488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GPUs for ML/DL notebooks without owning hardware.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3904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46304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LM Studio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78408" y="448056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open-source models locally — privacy, no API cost, real infra learning.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61688" y="3703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904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5047488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62856" y="448056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standard environment for every data/ML experiment.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46136" y="370332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47304" y="3904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21F2F"/>
          </a:solidFill>
          <a:ln/>
        </p:spPr>
      </p:sp>
      <p:sp>
        <p:nvSpPr>
          <p:cNvPr id="31" name="Text 29"/>
          <p:cNvSpPr/>
          <p:nvPr/>
        </p:nvSpPr>
        <p:spPr>
          <a:xfrm>
            <a:off x="8147304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8631936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paid Copilot tiers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47304" y="448056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useful — but optional extras, not requirements.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STACK, NOT 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5 tools rather than collecting 50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55448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417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+ Claude/ChatGPT/Gemini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468880"/>
            <a:ext cx="502920" cy="50292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Semantic Scholar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38328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246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GitHub + AI coding assistant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16052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297680"/>
            <a:ext cx="502920" cy="50292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4160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/ Notion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07492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521208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45920" y="5074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5074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1417320"/>
            <a:ext cx="4023360" cy="4572000"/>
          </a:xfrm>
          <a:prstGeom prst="roundRect">
            <a:avLst>
              <a:gd name="adj" fmla="val 204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352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AI MATTERS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&amp; LM Studio let you run open models on your own laptop.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35240" y="30632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API cost while you learn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data never leaves your machine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infrastructure experience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with limited internet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note: a modest laptop runs small open models fine — you don’t need a GPU rig to start.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ACE YOUR EXAMS — NOT CHEAT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your personal tutor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980590" cy="4160520"/>
          </a:xfrm>
          <a:prstGeom prst="roundRect">
            <a:avLst>
              <a:gd name="adj" fmla="val 415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16148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“Break this subject into prerequisite, core and advanced concepts. Build a learning sequence.”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940710" y="1417320"/>
            <a:ext cx="1980590" cy="4160520"/>
          </a:xfrm>
          <a:prstGeom prst="roundRect">
            <a:avLst>
              <a:gd name="adj" fmla="val 415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359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12359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23590" y="2194560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23590" y="2697480"/>
            <a:ext cx="16148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this at first-year level. Analogy first, then the technical explanation.”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104181" y="1417320"/>
            <a:ext cx="1980590" cy="4160520"/>
          </a:xfrm>
          <a:prstGeom prst="roundRect">
            <a:avLst>
              <a:gd name="adj" fmla="val 415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7061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87061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7061" y="2194560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7061" y="2697480"/>
            <a:ext cx="16148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solve this. Give me one hint at a time until I solve it myself.”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267651" y="1417320"/>
            <a:ext cx="1980590" cy="4160520"/>
          </a:xfrm>
          <a:prstGeom prst="roundRect">
            <a:avLst>
              <a:gd name="adj" fmla="val 415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50531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50531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0531" y="2194560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0531" y="2697480"/>
            <a:ext cx="16148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“Quiz me one question at a time. Don’t reveal the answer until I attempt it.”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431122" y="1417320"/>
            <a:ext cx="1980590" cy="4160520"/>
          </a:xfrm>
          <a:prstGeom prst="roundRect">
            <a:avLst>
              <a:gd name="adj" fmla="val 4155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14002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1400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1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14002" y="2194560"/>
            <a:ext cx="161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14002" y="2697480"/>
            <a:ext cx="16148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syllabus + past papers → ask for a priority map, mock paper, and strict-marking evaluation.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Attempt → AI → Critique → Verify → Improve. Active recall beats re-reading every time.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YOUR BRAIN — DON’T REPLACE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use vs bad 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51663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01168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• Debugger • Reviewer • Simulator</a:t>
            </a:r>
            <a:endParaRPr lang="en-US" sz="14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• Brainstorming partner</a:t>
            </a:r>
            <a:endParaRPr lang="en-US" sz="14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• Practice generator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1663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01168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assignments • Submitting AI work as your own</a:t>
            </a:r>
            <a:endParaRPr lang="en-US" sz="14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 generated answers • Blind code copying</a:t>
            </a:r>
            <a:endParaRPr lang="en-US" sz="14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references • No verification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4892040"/>
            <a:ext cx="10652760" cy="109728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8920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48920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38344" y="48920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68896" y="48920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99448" y="48920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 CERTIFICATES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 by year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build projects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65576" y="137160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35547E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94176" y="1554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94176" y="18288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94176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projects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53912" y="137160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554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82512" y="18288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82512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agent projects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42248" y="137160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8E1620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0848" y="15544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70848" y="18288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70848" y="28803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deployed projects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703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913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project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followed a guide step-by-step. Good for learning, weak for portfolio.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07408" y="3703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36008" y="3913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36008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idea, your own bugs, deployed and documented.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37576" y="3703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6176" y="3913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project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66176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Monitored, tested, handles real failure cases — interview gold.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PROOF OF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GitHub, resume &amp; internship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2148840"/>
            <a:ext cx="2121408" cy="0"/>
          </a:xfrm>
          <a:prstGeom prst="line">
            <a:avLst/>
          </a:prstGeom>
          <a:noFill/>
          <a:ln w="25400">
            <a:solidFill>
              <a:srgbClr val="2A4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consistently. An active profile beats a perfect 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78808" y="2148840"/>
            <a:ext cx="2121408" cy="0"/>
          </a:xfrm>
          <a:prstGeom prst="line">
            <a:avLst/>
          </a:prstGeom>
          <a:noFill/>
          <a:ln w="25400">
            <a:solidFill>
              <a:srgbClr val="2A4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38728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38728" y="2971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38728" y="347472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things. Write real READMEs with architecture notes.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0296" y="2148840"/>
            <a:ext cx="2121408" cy="0"/>
          </a:xfrm>
          <a:prstGeom prst="line">
            <a:avLst/>
          </a:prstGeom>
          <a:noFill/>
          <a:ln w="25400">
            <a:solidFill>
              <a:srgbClr val="2A46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82880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0216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0216" y="2971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+ Open Source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0216" y="347472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early. One merged PR is worth ten certificates.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1704" y="1828800"/>
            <a:ext cx="640080" cy="64008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23" name="Text 21"/>
          <p:cNvSpPr/>
          <p:nvPr/>
        </p:nvSpPr>
        <p:spPr>
          <a:xfrm>
            <a:off x="906170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61704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61704" y="2971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+ Interviews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61704" y="347472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demo videos, and a resume built from your projects.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5120640"/>
            <a:ext cx="10652760" cy="109728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51560" y="5120640"/>
            <a:ext cx="10104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recruiters actually check: project descriptions with metrics, deployment links, clean git history, architecture diagrams and a short demo video — not just a CGPA line.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WITH A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interview preparation tracks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2048256" cy="4206240"/>
          </a:xfrm>
          <a:prstGeom prst="roundRect">
            <a:avLst>
              <a:gd name="adj" fmla="val 401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45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/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1682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• Python • SQL • OOP • DBMS • OS • Networks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953512" y="1417320"/>
            <a:ext cx="2048256" cy="4206240"/>
          </a:xfrm>
          <a:prstGeom prst="roundRect">
            <a:avLst>
              <a:gd name="adj" fmla="val 401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36392" y="1645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36392" y="22860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36392" y="3291840"/>
            <a:ext cx="1682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• Statistics • Algorithms • Metrics • Feature engineering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129784" y="1417320"/>
            <a:ext cx="2048256" cy="4206240"/>
          </a:xfrm>
          <a:prstGeom prst="roundRect">
            <a:avLst>
              <a:gd name="adj" fmla="val 401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12664" y="1645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12664" y="22860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2664" y="3291840"/>
            <a:ext cx="1682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• Backprop • CNN • Transformers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306056" y="1417320"/>
            <a:ext cx="2048256" cy="4206240"/>
          </a:xfrm>
          <a:prstGeom prst="roundRect">
            <a:avLst>
              <a:gd name="adj" fmla="val 4018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88936" y="1645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88936" y="22860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88936" y="3291840"/>
            <a:ext cx="1682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• Embeddings • RAG • Fine-tuning • Agents • Evaluation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482328" y="1417320"/>
            <a:ext cx="2048256" cy="4206240"/>
          </a:xfrm>
          <a:prstGeom prst="roundRect">
            <a:avLst>
              <a:gd name="adj" fmla="val 401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5208" y="1645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65208" y="22860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65208" y="3291840"/>
            <a:ext cx="16824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• System design • Deployment • Cloud • MLOps • LLMOps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across these tracks is already labelled 🔴 interview-must / 🟢 hands-on-must / 🟡 nice-to-know / 🔵 advanced.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05 — WATCH IT HAPPEN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PDF → question-answering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real course PDF from the syllabus.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737360"/>
            <a:ext cx="502920" cy="50292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423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Embed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880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text and turn it into searchable embeddings.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question triggers retrieval (RAG) over the document.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869680" y="15087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737360"/>
            <a:ext cx="502920" cy="50292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98280" y="2423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2880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using only the retrieved, cited content.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77240" y="4160520"/>
            <a:ext cx="10652760" cy="1737360"/>
          </a:xfrm>
          <a:prstGeom prst="roundRect">
            <a:avLst>
              <a:gd name="adj" fmla="val 473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" y="4343400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demo: under 5 minutes, no fragile setup, and it's exactly the RAG pattern from Part 3 of the roadmap — visible, not theoretical.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937760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Alternates: an AI coding agent fixing a bug live, or an agent calling a tool to answer “what’s the mess fee this month?”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06 — BUILD THE AI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students. One AI system. What do you need?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answer questions about academics, attendance, fees, exams, hostel and placements.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voice interface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65576" y="20116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48456" y="201168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20116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36792" y="201168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policy docs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42248" y="20116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25128" y="201168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APIs (fees, attendance)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42900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layer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65576" y="342900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48456" y="342900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auth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53912" y="342900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36792" y="342900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evaluation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propose components first — then reveal this architecture and compare.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INDUSTRY WILL EXPECT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2030 AI Engineer, in six verbs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33272" y="19659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33272" y="256032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models, data, AI limitations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9659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applications, agents, APIs, pipelines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46136" y="17373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02168" y="19659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02168" y="256032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reliability, safety, cost, latency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33272" y="41148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33272" y="470916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containers, production systems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1688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41148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17720" y="470916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architecture, tradeoffs, ethics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46136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02168" y="41148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02168" y="470916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present, collaborate, lead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6108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of AI output and adaptability matter more than prompt-writing alone.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IT'S 2030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AI Engineer interview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08176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28016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code?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408176"/>
            <a:ext cx="457200" cy="45720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28016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ML?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130552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2130552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build an AI application?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130552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258568"/>
            <a:ext cx="457200" cy="45720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130552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debug an AI system?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2980944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298094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evaluate an AI system?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980944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457200" cy="45720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98094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design a production system?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3831336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95935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08760" y="383133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why your architecture is correct?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3831336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3959352"/>
            <a:ext cx="457200" cy="45720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83133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work with AI coding agents?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" y="4681728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" y="4809744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508760" y="468172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identify when AI is wrong?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4681728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4809744"/>
            <a:ext cx="457200" cy="45720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468172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solve a problem without AI?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" y="5623560"/>
            <a:ext cx="10652760" cy="777240"/>
          </a:xfrm>
          <a:prstGeom prst="roundRect">
            <a:avLst>
              <a:gd name="adj" fmla="val 10588"/>
            </a:avLst>
          </a:prstGeom>
          <a:solidFill>
            <a:srgbClr val="C21F2F"/>
          </a:solidFill>
          <a:ln/>
          <a:effectLst>
            <a:outerShdw sx="100000" sy="100000" kx="0" ky="0" algn="bl" rotWithShape="0" blurRad="127000" dist="38100" dir="5400000">
              <a:srgbClr val="0D1B2E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51560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“That is the engineer you need to become.”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00400"/>
            <a:ext cx="5486400" cy="54864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FOUR YEARS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4-YEAR MISSION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2377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31546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Builder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3931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Builder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4709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Become the engineer who can build what AI alone cannot.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2926080"/>
            <a:ext cx="7315200" cy="7315200"/>
          </a:xfrm>
          <a:prstGeom prst="ellipse">
            <a:avLst/>
          </a:prstGeom>
          <a:solidFill>
            <a:srgbClr val="C21F2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WON’T DECIDE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CAREER.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ADAPTABILITY WILL.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AIML career doesn’t start when you graduate.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with what you build in your first year.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UNIVERSITY  •  AIML ENGINEER 2030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2026-08-20T05:13:07Z</dcterms:created>
  <dcterms:modified xsi:type="dcterms:W3CDTF">2026-08-20T05:13:07Z</dcterms:modified>
</cp:coreProperties>
</file>